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orkflow" id="{635CFA09-E2F1-DD04-7D66-28BEBB52A1CD}">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213" d="100"/>
          <a:sy n="213" d="100"/>
        </p:scale>
        <p:origin x="300" y="1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0634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Student asks a question in the terminal or ADK web UI. 2. ADK sends the question plus the tool definition to Gemini. 3. Gemini decides the tool is needed and returns a function call. 4. ADK runs get_campus_resource_info with the resource name. 5-6. The tool reads campus_resources.json. 7. The tool returns status success with the record, or status error with available resources. 8. ADK sends the result back to Gemini. 9. Gemini composes the final answer using only the tool's data. 10. The answer is displayed to the student.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548640"/>
          </a:xfrm>
          <a:prstGeom prst="rect">
            <a:avLst/>
          </a:prstGeom>
          <a:noFill/>
          <a:ln/>
        </p:spPr>
        <p:txBody>
          <a:bodyPr wrap="square" rtlCol="0"/>
          <a:lstStyle>
            <a:lvl1pPr marL="0" indent="0" algn="l">
              <a:buNone/>
              <a:defRPr lang="en-US" sz="2800" b="1" dirty="0">
                <a:solidFill>
                  <a:schemeClr val="tx2"/>
                </a:solidFill>
              </a:defRPr>
            </a:lvl1pPr>
          </a:lstStyle>
          <a:p>
            <a:pPr marL="0" indent="0" algn="l">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548640"/>
          </a:xfrm>
          <a:prstGeom prst="rect">
            <a:avLst/>
          </a:prstGeom>
          <a:noFill/>
          <a:ln/>
        </p:spPr>
        <p:txBody>
          <a:bodyPr wrap="square" lIns="0" tIns="0" rIns="0" bIns="0" rtlCol="0" anchor="ctr"/>
          <a:lstStyle/>
          <a:p>
            <a:pPr marL="0" indent="0" algn="l">
              <a:buNone/>
            </a:pPr>
            <a:r>
              <a:rPr lang="en-US" sz="2800" b="1" dirty="0">
                <a:solidFill>
                  <a:schemeClr val="tx1"/>
                </a:solidFill>
              </a:rPr>
              <a:t>Agent workflow</a:t>
            </a:r>
            <a:endParaRPr lang="en-US" sz="2800" dirty="0">
              <a:solidFill>
                <a:schemeClr val="tx1"/>
              </a:solidFill>
            </a:endParaRPr>
          </a:p>
        </p:txBody>
      </p:sp>
      <p:sp>
        <p:nvSpPr>
          <p:cNvPr id="3" name="Header Student + UI"/>
          <p:cNvSpPr/>
          <p:nvPr/>
        </p:nvSpPr>
        <p:spPr>
          <a:xfrm>
            <a:off x="411480" y="914400"/>
            <a:ext cx="1371600" cy="411480"/>
          </a:xfrm>
          <a:prstGeom prst="roundRect">
            <a:avLst>
              <a:gd name="adj" fmla="val 17778"/>
            </a:avLst>
          </a:prstGeom>
          <a:noFill/>
          <a:ln w="12700">
            <a:solidFill>
              <a:schemeClr val="accent3"/>
            </a:solidFill>
          </a:ln>
        </p:spPr>
        <p:txBody>
          <a:bodyPr wrap="square" lIns="0" tIns="0" rIns="0" bIns="0" rtlCol="0" anchor="ctr"/>
          <a:lstStyle/>
          <a:p>
            <a:pPr marL="0" indent="0" algn="ctr">
              <a:buNone/>
            </a:pPr>
            <a:r>
              <a:rPr lang="en-US" sz="1400" b="1" dirty="0">
                <a:solidFill>
                  <a:schemeClr val="tx1"/>
                </a:solidFill>
              </a:rPr>
              <a:t>User</a:t>
            </a:r>
            <a:endParaRPr lang="en-US" sz="1400" dirty="0"/>
          </a:p>
        </p:txBody>
      </p:sp>
      <p:sp>
        <p:nvSpPr>
          <p:cNvPr id="4" name="Lifeline Student + UI"/>
          <p:cNvSpPr/>
          <p:nvPr/>
        </p:nvSpPr>
        <p:spPr>
          <a:xfrm>
            <a:off x="1097280" y="1325880"/>
            <a:ext cx="0" cy="3108960"/>
          </a:xfrm>
          <a:prstGeom prst="line">
            <a:avLst/>
          </a:prstGeom>
          <a:noFill/>
          <a:ln w="12700">
            <a:solidFill>
              <a:srgbClr val="B4B2A9"/>
            </a:solidFill>
            <a:prstDash val="dash"/>
          </a:ln>
        </p:spPr>
        <p:txBody>
          <a:bodyPr/>
          <a:lstStyle/>
          <a:p>
            <a:endParaRPr lang="en-US"/>
          </a:p>
        </p:txBody>
      </p:sp>
      <p:sp>
        <p:nvSpPr>
          <p:cNvPr id="5" name="Header ADK agent"/>
          <p:cNvSpPr/>
          <p:nvPr/>
        </p:nvSpPr>
        <p:spPr>
          <a:xfrm>
            <a:off x="2148840" y="914400"/>
            <a:ext cx="1371600" cy="411480"/>
          </a:xfrm>
          <a:prstGeom prst="roundRect">
            <a:avLst>
              <a:gd name="adj" fmla="val 17778"/>
            </a:avLst>
          </a:prstGeom>
          <a:noFill/>
          <a:ln w="12700">
            <a:solidFill>
              <a:schemeClr val="tx1">
                <a:lumMod val="90000"/>
                <a:lumOff val="10000"/>
              </a:schemeClr>
            </a:solidFill>
          </a:ln>
        </p:spPr>
        <p:txBody>
          <a:bodyPr wrap="square" lIns="0" tIns="0" rIns="0" bIns="0" rtlCol="0" anchor="ctr"/>
          <a:lstStyle/>
          <a:p>
            <a:pPr marL="0" indent="0" algn="ctr">
              <a:buNone/>
            </a:pPr>
            <a:r>
              <a:rPr lang="en-US" sz="1400" b="1" dirty="0"/>
              <a:t>Terminal or ADK agent</a:t>
            </a:r>
            <a:endParaRPr lang="en-US" sz="1400" dirty="0"/>
          </a:p>
        </p:txBody>
      </p:sp>
      <p:sp>
        <p:nvSpPr>
          <p:cNvPr id="6" name="Lifeline ADK agent"/>
          <p:cNvSpPr/>
          <p:nvPr/>
        </p:nvSpPr>
        <p:spPr>
          <a:xfrm>
            <a:off x="2834640" y="1325880"/>
            <a:ext cx="0" cy="3108960"/>
          </a:xfrm>
          <a:prstGeom prst="line">
            <a:avLst/>
          </a:prstGeom>
          <a:noFill/>
          <a:ln w="12700">
            <a:solidFill>
              <a:srgbClr val="B4B2A9"/>
            </a:solidFill>
            <a:prstDash val="dash"/>
          </a:ln>
        </p:spPr>
        <p:txBody>
          <a:bodyPr/>
          <a:lstStyle/>
          <a:p>
            <a:endParaRPr lang="en-US"/>
          </a:p>
        </p:txBody>
      </p:sp>
      <p:sp>
        <p:nvSpPr>
          <p:cNvPr id="7" name="Header Gemini"/>
          <p:cNvSpPr/>
          <p:nvPr/>
        </p:nvSpPr>
        <p:spPr>
          <a:xfrm>
            <a:off x="3886200" y="914400"/>
            <a:ext cx="1371600" cy="411480"/>
          </a:xfrm>
          <a:prstGeom prst="roundRect">
            <a:avLst>
              <a:gd name="adj" fmla="val 17778"/>
            </a:avLst>
          </a:prstGeom>
          <a:noFill/>
          <a:ln w="12700">
            <a:solidFill>
              <a:schemeClr val="tx1">
                <a:lumMod val="90000"/>
                <a:lumOff val="10000"/>
              </a:schemeClr>
            </a:solidFill>
          </a:ln>
        </p:spPr>
        <p:txBody>
          <a:bodyPr wrap="square" lIns="0" tIns="0" rIns="0" bIns="0" rtlCol="0" anchor="ctr"/>
          <a:lstStyle/>
          <a:p>
            <a:pPr marL="0" indent="0" algn="ctr">
              <a:buNone/>
            </a:pPr>
            <a:r>
              <a:rPr lang="en-US" sz="1400" b="1" dirty="0"/>
              <a:t>Gemini</a:t>
            </a:r>
            <a:endParaRPr lang="en-US" sz="1400" dirty="0"/>
          </a:p>
        </p:txBody>
      </p:sp>
      <p:sp>
        <p:nvSpPr>
          <p:cNvPr id="8" name="Lifeline Gemini"/>
          <p:cNvSpPr/>
          <p:nvPr/>
        </p:nvSpPr>
        <p:spPr>
          <a:xfrm>
            <a:off x="4572000" y="1325880"/>
            <a:ext cx="0" cy="3108960"/>
          </a:xfrm>
          <a:prstGeom prst="line">
            <a:avLst/>
          </a:prstGeom>
          <a:noFill/>
          <a:ln w="12700">
            <a:solidFill>
              <a:srgbClr val="B4B2A9"/>
            </a:solidFill>
            <a:prstDash val="dash"/>
          </a:ln>
        </p:spPr>
        <p:txBody>
          <a:bodyPr/>
          <a:lstStyle/>
          <a:p>
            <a:endParaRPr lang="en-US"/>
          </a:p>
        </p:txBody>
      </p:sp>
      <p:sp>
        <p:nvSpPr>
          <p:cNvPr id="9" name="Header Python tool"/>
          <p:cNvSpPr/>
          <p:nvPr/>
        </p:nvSpPr>
        <p:spPr>
          <a:xfrm>
            <a:off x="5623560" y="914400"/>
            <a:ext cx="1371600" cy="411480"/>
          </a:xfrm>
          <a:prstGeom prst="roundRect">
            <a:avLst>
              <a:gd name="adj" fmla="val 17778"/>
            </a:avLst>
          </a:prstGeom>
          <a:noFill/>
          <a:ln w="12700">
            <a:solidFill>
              <a:schemeClr val="tx1">
                <a:lumMod val="90000"/>
                <a:lumOff val="10000"/>
              </a:schemeClr>
            </a:solidFill>
          </a:ln>
        </p:spPr>
        <p:txBody>
          <a:bodyPr wrap="square" lIns="0" tIns="0" rIns="0" bIns="0" rtlCol="0" anchor="ctr"/>
          <a:lstStyle/>
          <a:p>
            <a:pPr marL="0" indent="0" algn="ctr">
              <a:buNone/>
            </a:pPr>
            <a:r>
              <a:rPr lang="en-US" sz="1400" b="1" dirty="0"/>
              <a:t>Python</a:t>
            </a:r>
            <a:r>
              <a:rPr lang="en-US" sz="1400" b="1" dirty="0">
                <a:solidFill>
                  <a:schemeClr val="accent2"/>
                </a:solidFill>
              </a:rPr>
              <a:t> </a:t>
            </a:r>
            <a:r>
              <a:rPr lang="en-US" sz="1400" b="1" dirty="0"/>
              <a:t>tool</a:t>
            </a:r>
            <a:endParaRPr lang="en-US" sz="1400" dirty="0"/>
          </a:p>
        </p:txBody>
      </p:sp>
      <p:sp>
        <p:nvSpPr>
          <p:cNvPr id="10" name="Lifeline Python tool"/>
          <p:cNvSpPr/>
          <p:nvPr/>
        </p:nvSpPr>
        <p:spPr>
          <a:xfrm>
            <a:off x="6309360" y="1325880"/>
            <a:ext cx="0" cy="3108960"/>
          </a:xfrm>
          <a:prstGeom prst="line">
            <a:avLst/>
          </a:prstGeom>
          <a:noFill/>
          <a:ln w="12700">
            <a:solidFill>
              <a:srgbClr val="B4B2A9"/>
            </a:solidFill>
            <a:prstDash val="dash"/>
          </a:ln>
        </p:spPr>
        <p:txBody>
          <a:bodyPr/>
          <a:lstStyle/>
          <a:p>
            <a:endParaRPr lang="en-US"/>
          </a:p>
        </p:txBody>
      </p:sp>
      <p:sp>
        <p:nvSpPr>
          <p:cNvPr id="11" name="Header JSON file"/>
          <p:cNvSpPr/>
          <p:nvPr/>
        </p:nvSpPr>
        <p:spPr>
          <a:xfrm>
            <a:off x="7360920" y="914400"/>
            <a:ext cx="1371600" cy="411480"/>
          </a:xfrm>
          <a:prstGeom prst="roundRect">
            <a:avLst>
              <a:gd name="adj" fmla="val 17778"/>
            </a:avLst>
          </a:prstGeom>
          <a:noFill/>
          <a:ln w="12700">
            <a:solidFill>
              <a:schemeClr val="tx1">
                <a:lumMod val="90000"/>
                <a:lumOff val="10000"/>
              </a:schemeClr>
            </a:solidFill>
          </a:ln>
        </p:spPr>
        <p:txBody>
          <a:bodyPr wrap="square" lIns="0" tIns="0" rIns="0" bIns="0" rtlCol="0" anchor="ctr"/>
          <a:lstStyle/>
          <a:p>
            <a:pPr marL="0" indent="0" algn="ctr">
              <a:buNone/>
            </a:pPr>
            <a:r>
              <a:rPr lang="en-US" sz="1400" b="1" dirty="0"/>
              <a:t>JSON</a:t>
            </a:r>
            <a:r>
              <a:rPr lang="en-US" sz="1400" b="1" dirty="0">
                <a:solidFill>
                  <a:schemeClr val="accent2"/>
                </a:solidFill>
              </a:rPr>
              <a:t> </a:t>
            </a:r>
            <a:r>
              <a:rPr lang="en-US" sz="1400" b="1" dirty="0"/>
              <a:t>file</a:t>
            </a:r>
            <a:endParaRPr lang="en-US" sz="1400" dirty="0"/>
          </a:p>
        </p:txBody>
      </p:sp>
      <p:sp>
        <p:nvSpPr>
          <p:cNvPr id="12" name="Lifeline JSON file"/>
          <p:cNvSpPr/>
          <p:nvPr/>
        </p:nvSpPr>
        <p:spPr>
          <a:xfrm>
            <a:off x="8046720" y="1325880"/>
            <a:ext cx="0" cy="3108960"/>
          </a:xfrm>
          <a:prstGeom prst="line">
            <a:avLst/>
          </a:prstGeom>
          <a:noFill/>
          <a:ln w="12700">
            <a:solidFill>
              <a:srgbClr val="B4B2A9"/>
            </a:solidFill>
            <a:prstDash val="dash"/>
          </a:ln>
        </p:spPr>
        <p:txBody>
          <a:bodyPr/>
          <a:lstStyle/>
          <a:p>
            <a:endParaRPr lang="en-US"/>
          </a:p>
        </p:txBody>
      </p:sp>
      <p:sp>
        <p:nvSpPr>
          <p:cNvPr id="13" name="Arrow 1. Question"/>
          <p:cNvSpPr/>
          <p:nvPr/>
        </p:nvSpPr>
        <p:spPr>
          <a:xfrm>
            <a:off x="1133856" y="1691640"/>
            <a:ext cx="1664208" cy="0"/>
          </a:xfrm>
          <a:prstGeom prst="line">
            <a:avLst/>
          </a:prstGeom>
          <a:ln>
            <a:tailEnd type="triangle"/>
          </a:ln>
        </p:spPr>
        <p:style>
          <a:lnRef idx="3">
            <a:schemeClr val="dk1"/>
          </a:lnRef>
          <a:fillRef idx="0">
            <a:schemeClr val="dk1"/>
          </a:fillRef>
          <a:effectRef idx="2">
            <a:schemeClr val="dk1"/>
          </a:effectRef>
          <a:fontRef idx="minor">
            <a:schemeClr val="tx1"/>
          </a:fontRef>
        </p:style>
        <p:txBody>
          <a:bodyPr/>
          <a:lstStyle/>
          <a:p>
            <a:endParaRPr lang="en-US"/>
          </a:p>
        </p:txBody>
      </p:sp>
      <p:sp>
        <p:nvSpPr>
          <p:cNvPr id="14" name="Label 1. Question"/>
          <p:cNvSpPr txBox="1"/>
          <p:nvPr/>
        </p:nvSpPr>
        <p:spPr>
          <a:xfrm>
            <a:off x="1133856" y="1463040"/>
            <a:ext cx="1664208" cy="201168"/>
          </a:xfrm>
          <a:prstGeom prst="rect">
            <a:avLst/>
          </a:prstGeom>
          <a:noFill/>
          <a:ln/>
        </p:spPr>
        <p:txBody>
          <a:bodyPr wrap="square" lIns="0" tIns="0" rIns="0" bIns="0" rtlCol="0" anchor="b"/>
          <a:lstStyle/>
          <a:p>
            <a:pPr marL="0" indent="0" algn="ctr">
              <a:buNone/>
            </a:pPr>
            <a:r>
              <a:rPr lang="en-US" sz="1100" dirty="0"/>
              <a:t>Asks a question</a:t>
            </a:r>
          </a:p>
        </p:txBody>
      </p:sp>
      <p:sp>
        <p:nvSpPr>
          <p:cNvPr id="15" name="Arrow 2. Question + tool"/>
          <p:cNvSpPr/>
          <p:nvPr/>
        </p:nvSpPr>
        <p:spPr>
          <a:xfrm>
            <a:off x="2871216" y="1975104"/>
            <a:ext cx="1664208" cy="0"/>
          </a:xfrm>
          <a:prstGeom prst="line">
            <a:avLst/>
          </a:prstGeom>
          <a:ln>
            <a:tailEnd type="triangle"/>
          </a:ln>
        </p:spPr>
        <p:style>
          <a:lnRef idx="3">
            <a:schemeClr val="dk1"/>
          </a:lnRef>
          <a:fillRef idx="0">
            <a:schemeClr val="dk1"/>
          </a:fillRef>
          <a:effectRef idx="2">
            <a:schemeClr val="dk1"/>
          </a:effectRef>
          <a:fontRef idx="minor">
            <a:schemeClr val="tx1"/>
          </a:fontRef>
        </p:style>
        <p:txBody>
          <a:bodyPr/>
          <a:lstStyle/>
          <a:p>
            <a:endParaRPr lang="en-US"/>
          </a:p>
        </p:txBody>
      </p:sp>
      <p:sp>
        <p:nvSpPr>
          <p:cNvPr id="16" name="Label 2. Question + tool"/>
          <p:cNvSpPr txBox="1"/>
          <p:nvPr/>
        </p:nvSpPr>
        <p:spPr>
          <a:xfrm>
            <a:off x="2871216" y="1746504"/>
            <a:ext cx="1664208" cy="201168"/>
          </a:xfrm>
          <a:prstGeom prst="rect">
            <a:avLst/>
          </a:prstGeom>
          <a:noFill/>
          <a:ln/>
        </p:spPr>
        <p:txBody>
          <a:bodyPr wrap="square" lIns="0" tIns="0" rIns="0" bIns="0" rtlCol="0" anchor="b"/>
          <a:lstStyle/>
          <a:p>
            <a:pPr marL="0" indent="0" algn="ctr">
              <a:buNone/>
            </a:pPr>
            <a:r>
              <a:rPr lang="en-US" sz="1100" dirty="0">
                <a:solidFill>
                  <a:schemeClr val="tx1"/>
                </a:solidFill>
              </a:rPr>
              <a:t>Forwards Question</a:t>
            </a:r>
            <a:endParaRPr lang="en-US" sz="1100" dirty="0"/>
          </a:p>
        </p:txBody>
      </p:sp>
      <p:sp>
        <p:nvSpPr>
          <p:cNvPr id="20" name="Label 4. resource_name"/>
          <p:cNvSpPr txBox="1"/>
          <p:nvPr/>
        </p:nvSpPr>
        <p:spPr>
          <a:xfrm>
            <a:off x="3664294" y="2185267"/>
            <a:ext cx="1664208" cy="201168"/>
          </a:xfrm>
          <a:prstGeom prst="rect">
            <a:avLst/>
          </a:prstGeom>
          <a:noFill/>
          <a:ln/>
        </p:spPr>
        <p:txBody>
          <a:bodyPr wrap="square" lIns="0" tIns="0" rIns="0" bIns="0" rtlCol="0" anchor="b"/>
          <a:lstStyle/>
          <a:p>
            <a:pPr marL="0" indent="0" algn="ctr">
              <a:buNone/>
            </a:pPr>
            <a:r>
              <a:rPr lang="en-US" sz="1100" dirty="0">
                <a:solidFill>
                  <a:schemeClr val="tx1"/>
                </a:solidFill>
              </a:rPr>
              <a:t>Determines if it needs tool to answer question</a:t>
            </a:r>
            <a:endParaRPr lang="en-US" sz="1100" dirty="0"/>
          </a:p>
        </p:txBody>
      </p:sp>
      <p:sp>
        <p:nvSpPr>
          <p:cNvPr id="21" name="Arrow 5. Read file"/>
          <p:cNvSpPr/>
          <p:nvPr/>
        </p:nvSpPr>
        <p:spPr>
          <a:xfrm>
            <a:off x="6364224" y="3351426"/>
            <a:ext cx="1664208" cy="0"/>
          </a:xfrm>
          <a:prstGeom prst="line">
            <a:avLst/>
          </a:prstGeom>
          <a:ln>
            <a:tailEnd type="triangle"/>
          </a:ln>
        </p:spPr>
        <p:style>
          <a:lnRef idx="3">
            <a:schemeClr val="dk1"/>
          </a:lnRef>
          <a:fillRef idx="0">
            <a:schemeClr val="dk1"/>
          </a:fillRef>
          <a:effectRef idx="2">
            <a:schemeClr val="dk1"/>
          </a:effectRef>
          <a:fontRef idx="minor">
            <a:schemeClr val="tx1"/>
          </a:fontRef>
        </p:style>
        <p:txBody>
          <a:bodyPr/>
          <a:lstStyle/>
          <a:p>
            <a:endParaRPr lang="en-US"/>
          </a:p>
        </p:txBody>
      </p:sp>
      <p:sp>
        <p:nvSpPr>
          <p:cNvPr id="22" name="Label 5. Read file"/>
          <p:cNvSpPr txBox="1"/>
          <p:nvPr/>
        </p:nvSpPr>
        <p:spPr>
          <a:xfrm>
            <a:off x="6364224" y="3122826"/>
            <a:ext cx="1664208" cy="201168"/>
          </a:xfrm>
          <a:prstGeom prst="rect">
            <a:avLst/>
          </a:prstGeom>
          <a:noFill/>
          <a:ln/>
        </p:spPr>
        <p:txBody>
          <a:bodyPr wrap="square" lIns="0" tIns="0" rIns="0" bIns="0" rtlCol="0" anchor="b"/>
          <a:lstStyle/>
          <a:p>
            <a:pPr marL="0" indent="0" algn="ctr">
              <a:buNone/>
            </a:pPr>
            <a:r>
              <a:rPr lang="en-US" sz="1100" dirty="0">
                <a:solidFill>
                  <a:schemeClr val="tx1"/>
                </a:solidFill>
              </a:rPr>
              <a:t>Reads file</a:t>
            </a:r>
            <a:endParaRPr lang="en-US" sz="1100" dirty="0"/>
          </a:p>
        </p:txBody>
      </p:sp>
      <p:sp>
        <p:nvSpPr>
          <p:cNvPr id="23" name="Arrow 6. Records"/>
          <p:cNvSpPr/>
          <p:nvPr/>
        </p:nvSpPr>
        <p:spPr>
          <a:xfrm flipH="1" flipV="1">
            <a:off x="2871216" y="3614283"/>
            <a:ext cx="5157216" cy="20607"/>
          </a:xfrm>
          <a:prstGeom prst="line">
            <a:avLst/>
          </a:prstGeom>
          <a:ln>
            <a:tailEnd type="triangle"/>
          </a:ln>
        </p:spPr>
        <p:style>
          <a:lnRef idx="3">
            <a:schemeClr val="dk1"/>
          </a:lnRef>
          <a:fillRef idx="0">
            <a:schemeClr val="dk1"/>
          </a:fillRef>
          <a:effectRef idx="2">
            <a:schemeClr val="dk1"/>
          </a:effectRef>
          <a:fontRef idx="minor">
            <a:schemeClr val="tx1"/>
          </a:fontRef>
        </p:style>
        <p:txBody>
          <a:bodyPr/>
          <a:lstStyle/>
          <a:p>
            <a:endParaRPr lang="en-US"/>
          </a:p>
        </p:txBody>
      </p:sp>
      <p:sp>
        <p:nvSpPr>
          <p:cNvPr id="24" name="Label 6. Records"/>
          <p:cNvSpPr txBox="1"/>
          <p:nvPr/>
        </p:nvSpPr>
        <p:spPr>
          <a:xfrm>
            <a:off x="6364224" y="3406290"/>
            <a:ext cx="1664208" cy="201168"/>
          </a:xfrm>
          <a:prstGeom prst="rect">
            <a:avLst/>
          </a:prstGeom>
          <a:noFill/>
          <a:ln/>
        </p:spPr>
        <p:txBody>
          <a:bodyPr wrap="square" lIns="0" tIns="0" rIns="0" bIns="0" rtlCol="0" anchor="b"/>
          <a:lstStyle/>
          <a:p>
            <a:pPr marL="0" indent="0" algn="ctr">
              <a:buNone/>
            </a:pPr>
            <a:r>
              <a:rPr lang="en-US" sz="1100" dirty="0">
                <a:solidFill>
                  <a:schemeClr val="tx1"/>
                </a:solidFill>
              </a:rPr>
              <a:t>Sends back result</a:t>
            </a:r>
            <a:endParaRPr lang="en-US" sz="1100" dirty="0"/>
          </a:p>
        </p:txBody>
      </p:sp>
      <p:sp>
        <p:nvSpPr>
          <p:cNvPr id="27" name="Arrow 8. Tool result"/>
          <p:cNvSpPr/>
          <p:nvPr/>
        </p:nvSpPr>
        <p:spPr>
          <a:xfrm>
            <a:off x="2852928" y="3817621"/>
            <a:ext cx="1664208" cy="0"/>
          </a:xfrm>
          <a:prstGeom prst="line">
            <a:avLst/>
          </a:prstGeom>
          <a:ln>
            <a:tailEnd type="triangle"/>
          </a:ln>
        </p:spPr>
        <p:style>
          <a:lnRef idx="3">
            <a:schemeClr val="dk1"/>
          </a:lnRef>
          <a:fillRef idx="0">
            <a:schemeClr val="dk1"/>
          </a:fillRef>
          <a:effectRef idx="2">
            <a:schemeClr val="dk1"/>
          </a:effectRef>
          <a:fontRef idx="minor">
            <a:schemeClr val="tx1"/>
          </a:fontRef>
        </p:style>
        <p:txBody>
          <a:bodyPr/>
          <a:lstStyle/>
          <a:p>
            <a:endParaRPr lang="en-US"/>
          </a:p>
        </p:txBody>
      </p:sp>
      <p:sp>
        <p:nvSpPr>
          <p:cNvPr id="28" name="Label 8. Tool result"/>
          <p:cNvSpPr txBox="1"/>
          <p:nvPr/>
        </p:nvSpPr>
        <p:spPr>
          <a:xfrm>
            <a:off x="2852928" y="3589021"/>
            <a:ext cx="1664208" cy="201168"/>
          </a:xfrm>
          <a:prstGeom prst="rect">
            <a:avLst/>
          </a:prstGeom>
          <a:noFill/>
          <a:ln/>
        </p:spPr>
        <p:txBody>
          <a:bodyPr wrap="square" lIns="0" tIns="0" rIns="0" bIns="0" rtlCol="0" anchor="b"/>
          <a:lstStyle/>
          <a:p>
            <a:pPr marL="0" indent="0" algn="ctr">
              <a:buNone/>
            </a:pPr>
            <a:r>
              <a:rPr lang="en-US" sz="1100" dirty="0">
                <a:solidFill>
                  <a:schemeClr val="tx1"/>
                </a:solidFill>
              </a:rPr>
              <a:t>Returns for formatting</a:t>
            </a:r>
            <a:endParaRPr lang="en-US" sz="1100" dirty="0"/>
          </a:p>
        </p:txBody>
      </p:sp>
      <p:sp>
        <p:nvSpPr>
          <p:cNvPr id="31" name="Arrow 10. Displayed"/>
          <p:cNvSpPr/>
          <p:nvPr/>
        </p:nvSpPr>
        <p:spPr>
          <a:xfrm flipH="1">
            <a:off x="1152144" y="4398204"/>
            <a:ext cx="1664208" cy="0"/>
          </a:xfrm>
          <a:prstGeom prst="line">
            <a:avLst/>
          </a:prstGeom>
          <a:ln>
            <a:tailEnd type="triangle"/>
          </a:ln>
        </p:spPr>
        <p:style>
          <a:lnRef idx="3">
            <a:schemeClr val="dk1"/>
          </a:lnRef>
          <a:fillRef idx="0">
            <a:schemeClr val="dk1"/>
          </a:fillRef>
          <a:effectRef idx="2">
            <a:schemeClr val="dk1"/>
          </a:effectRef>
          <a:fontRef idx="minor">
            <a:schemeClr val="tx1"/>
          </a:fontRef>
        </p:style>
        <p:txBody>
          <a:bodyPr/>
          <a:lstStyle/>
          <a:p>
            <a:endParaRPr lang="en-US"/>
          </a:p>
        </p:txBody>
      </p:sp>
      <p:sp>
        <p:nvSpPr>
          <p:cNvPr id="32" name="Label 10. Displayed"/>
          <p:cNvSpPr txBox="1"/>
          <p:nvPr/>
        </p:nvSpPr>
        <p:spPr>
          <a:xfrm>
            <a:off x="1143000" y="4128516"/>
            <a:ext cx="1664208" cy="201168"/>
          </a:xfrm>
          <a:prstGeom prst="rect">
            <a:avLst/>
          </a:prstGeom>
          <a:noFill/>
          <a:ln/>
        </p:spPr>
        <p:txBody>
          <a:bodyPr wrap="square" lIns="0" tIns="0" rIns="0" bIns="0" rtlCol="0" anchor="b"/>
          <a:lstStyle/>
          <a:p>
            <a:pPr marL="0" indent="0" algn="ctr">
              <a:buNone/>
            </a:pPr>
            <a:r>
              <a:rPr lang="en-US" sz="1100" dirty="0">
                <a:solidFill>
                  <a:schemeClr val="tx1"/>
                </a:solidFill>
              </a:rPr>
              <a:t>Output for user</a:t>
            </a:r>
            <a:endParaRPr lang="en-US" sz="1100" dirty="0"/>
          </a:p>
        </p:txBody>
      </p:sp>
      <p:sp>
        <p:nvSpPr>
          <p:cNvPr id="38" name="Arrow 4. resource_name">
            <a:extLst>
              <a:ext uri="{FF2B5EF4-FFF2-40B4-BE49-F238E27FC236}">
                <a16:creationId xmlns:a16="http://schemas.microsoft.com/office/drawing/2014/main" id="{326E26E8-9B4B-080F-7468-4F7FF626E7FA}"/>
              </a:ext>
            </a:extLst>
          </p:cNvPr>
          <p:cNvSpPr/>
          <p:nvPr/>
        </p:nvSpPr>
        <p:spPr>
          <a:xfrm flipH="1" flipV="1">
            <a:off x="2871216" y="2626717"/>
            <a:ext cx="1682496" cy="2"/>
          </a:xfrm>
          <a:prstGeom prst="line">
            <a:avLst/>
          </a:prstGeom>
          <a:ln>
            <a:tailEnd type="triangle"/>
          </a:ln>
        </p:spPr>
        <p:style>
          <a:lnRef idx="3">
            <a:schemeClr val="dk1"/>
          </a:lnRef>
          <a:fillRef idx="0">
            <a:schemeClr val="dk1"/>
          </a:fillRef>
          <a:effectRef idx="2">
            <a:schemeClr val="dk1"/>
          </a:effectRef>
          <a:fontRef idx="minor">
            <a:schemeClr val="tx1"/>
          </a:fontRef>
        </p:style>
        <p:txBody>
          <a:bodyPr/>
          <a:lstStyle/>
          <a:p>
            <a:endParaRPr lang="en-US"/>
          </a:p>
        </p:txBody>
      </p:sp>
      <p:sp>
        <p:nvSpPr>
          <p:cNvPr id="42" name="Label 8. Tool result">
            <a:extLst>
              <a:ext uri="{FF2B5EF4-FFF2-40B4-BE49-F238E27FC236}">
                <a16:creationId xmlns:a16="http://schemas.microsoft.com/office/drawing/2014/main" id="{7BB1CD50-A588-6980-566C-A8FB725A6D32}"/>
              </a:ext>
            </a:extLst>
          </p:cNvPr>
          <p:cNvSpPr txBox="1"/>
          <p:nvPr/>
        </p:nvSpPr>
        <p:spPr>
          <a:xfrm>
            <a:off x="2910243" y="2377515"/>
            <a:ext cx="1664208" cy="201168"/>
          </a:xfrm>
          <a:prstGeom prst="rect">
            <a:avLst/>
          </a:prstGeom>
          <a:noFill/>
          <a:ln/>
        </p:spPr>
        <p:txBody>
          <a:bodyPr wrap="square" lIns="0" tIns="0" rIns="0" bIns="0" rtlCol="0" anchor="b"/>
          <a:lstStyle/>
          <a:p>
            <a:pPr marL="0" indent="0" algn="ctr">
              <a:buNone/>
            </a:pPr>
            <a:r>
              <a:rPr lang="en-US" sz="1100" dirty="0">
                <a:solidFill>
                  <a:schemeClr val="tx1"/>
                </a:solidFill>
              </a:rPr>
              <a:t>If no returns answer</a:t>
            </a:r>
            <a:endParaRPr lang="en-US" sz="1100" dirty="0"/>
          </a:p>
        </p:txBody>
      </p:sp>
      <p:sp>
        <p:nvSpPr>
          <p:cNvPr id="46" name="Arrow 4. resource_name">
            <a:extLst>
              <a:ext uri="{FF2B5EF4-FFF2-40B4-BE49-F238E27FC236}">
                <a16:creationId xmlns:a16="http://schemas.microsoft.com/office/drawing/2014/main" id="{CFD6C5B5-99D5-87E4-FE6B-9318D0D0D93B}"/>
              </a:ext>
            </a:extLst>
          </p:cNvPr>
          <p:cNvSpPr/>
          <p:nvPr/>
        </p:nvSpPr>
        <p:spPr>
          <a:xfrm flipH="1" flipV="1">
            <a:off x="2871216" y="2955677"/>
            <a:ext cx="1682496" cy="2"/>
          </a:xfrm>
          <a:prstGeom prst="line">
            <a:avLst/>
          </a:prstGeom>
          <a:ln>
            <a:tailEnd type="triangle"/>
          </a:ln>
        </p:spPr>
        <p:style>
          <a:lnRef idx="3">
            <a:schemeClr val="dk1"/>
          </a:lnRef>
          <a:fillRef idx="0">
            <a:schemeClr val="dk1"/>
          </a:fillRef>
          <a:effectRef idx="2">
            <a:schemeClr val="dk1"/>
          </a:effectRef>
          <a:fontRef idx="minor">
            <a:schemeClr val="tx1"/>
          </a:fontRef>
        </p:style>
        <p:txBody>
          <a:bodyPr/>
          <a:lstStyle/>
          <a:p>
            <a:endParaRPr lang="en-US"/>
          </a:p>
        </p:txBody>
      </p:sp>
      <p:sp>
        <p:nvSpPr>
          <p:cNvPr id="48" name="Label 8. Tool result">
            <a:extLst>
              <a:ext uri="{FF2B5EF4-FFF2-40B4-BE49-F238E27FC236}">
                <a16:creationId xmlns:a16="http://schemas.microsoft.com/office/drawing/2014/main" id="{D42522EF-BE28-F042-F74F-89F864479F92}"/>
              </a:ext>
            </a:extLst>
          </p:cNvPr>
          <p:cNvSpPr txBox="1"/>
          <p:nvPr/>
        </p:nvSpPr>
        <p:spPr>
          <a:xfrm>
            <a:off x="2910243" y="2706475"/>
            <a:ext cx="1664208" cy="201168"/>
          </a:xfrm>
          <a:prstGeom prst="rect">
            <a:avLst/>
          </a:prstGeom>
          <a:noFill/>
          <a:ln/>
        </p:spPr>
        <p:txBody>
          <a:bodyPr wrap="square" lIns="0" tIns="0" rIns="0" bIns="0" rtlCol="0" anchor="b"/>
          <a:lstStyle/>
          <a:p>
            <a:pPr marL="0" indent="0" algn="ctr">
              <a:buNone/>
            </a:pPr>
            <a:r>
              <a:rPr lang="en-US" sz="1100" dirty="0">
                <a:solidFill>
                  <a:schemeClr val="tx1"/>
                </a:solidFill>
              </a:rPr>
              <a:t>If yes has agent call tool</a:t>
            </a:r>
            <a:endParaRPr lang="en-US" sz="1100" dirty="0"/>
          </a:p>
        </p:txBody>
      </p:sp>
      <p:sp>
        <p:nvSpPr>
          <p:cNvPr id="50" name="Arrow 8. Tool result">
            <a:extLst>
              <a:ext uri="{FF2B5EF4-FFF2-40B4-BE49-F238E27FC236}">
                <a16:creationId xmlns:a16="http://schemas.microsoft.com/office/drawing/2014/main" id="{C2B7DBF5-C0BB-61AD-60EC-4310439A3BEB}"/>
              </a:ext>
            </a:extLst>
          </p:cNvPr>
          <p:cNvSpPr/>
          <p:nvPr/>
        </p:nvSpPr>
        <p:spPr>
          <a:xfrm flipV="1">
            <a:off x="2871216" y="3197932"/>
            <a:ext cx="3438144" cy="6889"/>
          </a:xfrm>
          <a:prstGeom prst="line">
            <a:avLst/>
          </a:prstGeom>
          <a:ln>
            <a:tailEnd type="triangle"/>
          </a:ln>
        </p:spPr>
        <p:style>
          <a:lnRef idx="3">
            <a:schemeClr val="dk1"/>
          </a:lnRef>
          <a:fillRef idx="0">
            <a:schemeClr val="dk1"/>
          </a:fillRef>
          <a:effectRef idx="2">
            <a:schemeClr val="dk1"/>
          </a:effectRef>
          <a:fontRef idx="minor">
            <a:schemeClr val="tx1"/>
          </a:fontRef>
        </p:style>
        <p:txBody>
          <a:bodyPr/>
          <a:lstStyle/>
          <a:p>
            <a:endParaRPr lang="en-US"/>
          </a:p>
        </p:txBody>
      </p:sp>
      <p:sp>
        <p:nvSpPr>
          <p:cNvPr id="52" name="Label 8. Tool result">
            <a:extLst>
              <a:ext uri="{FF2B5EF4-FFF2-40B4-BE49-F238E27FC236}">
                <a16:creationId xmlns:a16="http://schemas.microsoft.com/office/drawing/2014/main" id="{2FD24C3D-A2DE-61BA-3498-A9593DC2E5C5}"/>
              </a:ext>
            </a:extLst>
          </p:cNvPr>
          <p:cNvSpPr txBox="1"/>
          <p:nvPr/>
        </p:nvSpPr>
        <p:spPr>
          <a:xfrm>
            <a:off x="2871216" y="2970527"/>
            <a:ext cx="1664208" cy="201168"/>
          </a:xfrm>
          <a:prstGeom prst="rect">
            <a:avLst/>
          </a:prstGeom>
          <a:noFill/>
          <a:ln/>
        </p:spPr>
        <p:txBody>
          <a:bodyPr wrap="square" lIns="0" tIns="0" rIns="0" bIns="0" rtlCol="0" anchor="b"/>
          <a:lstStyle/>
          <a:p>
            <a:pPr marL="0" indent="0" algn="ctr">
              <a:buNone/>
            </a:pPr>
            <a:r>
              <a:rPr lang="en-US" sz="1100" dirty="0">
                <a:solidFill>
                  <a:schemeClr val="tx1"/>
                </a:solidFill>
              </a:rPr>
              <a:t>Agent calls tool </a:t>
            </a:r>
            <a:endParaRPr lang="en-US" sz="1100" dirty="0"/>
          </a:p>
        </p:txBody>
      </p:sp>
      <p:sp>
        <p:nvSpPr>
          <p:cNvPr id="54" name="Arrow 10. Displayed">
            <a:extLst>
              <a:ext uri="{FF2B5EF4-FFF2-40B4-BE49-F238E27FC236}">
                <a16:creationId xmlns:a16="http://schemas.microsoft.com/office/drawing/2014/main" id="{7E67D536-887E-FD51-D49F-9C3C09BA093D}"/>
              </a:ext>
            </a:extLst>
          </p:cNvPr>
          <p:cNvSpPr/>
          <p:nvPr/>
        </p:nvSpPr>
        <p:spPr>
          <a:xfrm flipH="1">
            <a:off x="2852928" y="4098545"/>
            <a:ext cx="1664208" cy="0"/>
          </a:xfrm>
          <a:prstGeom prst="line">
            <a:avLst/>
          </a:prstGeom>
          <a:ln>
            <a:tailEnd type="triangle"/>
          </a:ln>
        </p:spPr>
        <p:style>
          <a:lnRef idx="3">
            <a:schemeClr val="dk1"/>
          </a:lnRef>
          <a:fillRef idx="0">
            <a:schemeClr val="dk1"/>
          </a:fillRef>
          <a:effectRef idx="2">
            <a:schemeClr val="dk1"/>
          </a:effectRef>
          <a:fontRef idx="minor">
            <a:schemeClr val="tx1"/>
          </a:fontRef>
        </p:style>
        <p:txBody>
          <a:bodyPr/>
          <a:lstStyle/>
          <a:p>
            <a:endParaRPr lang="en-US"/>
          </a:p>
        </p:txBody>
      </p:sp>
      <p:sp>
        <p:nvSpPr>
          <p:cNvPr id="56" name="Label 10. Displayed">
            <a:extLst>
              <a:ext uri="{FF2B5EF4-FFF2-40B4-BE49-F238E27FC236}">
                <a16:creationId xmlns:a16="http://schemas.microsoft.com/office/drawing/2014/main" id="{2232F361-09AE-A67A-FCA1-239FFEDE4AE6}"/>
              </a:ext>
            </a:extLst>
          </p:cNvPr>
          <p:cNvSpPr txBox="1"/>
          <p:nvPr/>
        </p:nvSpPr>
        <p:spPr>
          <a:xfrm>
            <a:off x="2852928" y="3869945"/>
            <a:ext cx="1664208" cy="201168"/>
          </a:xfrm>
          <a:prstGeom prst="rect">
            <a:avLst/>
          </a:prstGeom>
          <a:noFill/>
          <a:ln/>
        </p:spPr>
        <p:txBody>
          <a:bodyPr wrap="square" lIns="0" tIns="0" rIns="0" bIns="0" rtlCol="0" anchor="b"/>
          <a:lstStyle/>
          <a:p>
            <a:pPr marL="0" indent="0" algn="ctr">
              <a:buNone/>
            </a:pPr>
            <a:r>
              <a:rPr lang="en-US" sz="1100" dirty="0">
                <a:solidFill>
                  <a:schemeClr val="tx1"/>
                </a:solidFill>
              </a:rPr>
              <a:t>Returns final answer</a:t>
            </a:r>
            <a:endParaRPr lang="en-US" sz="1100" dirty="0"/>
          </a:p>
        </p:txBody>
      </p:sp>
    </p:spTree>
  </p:cSld>
  <p:clrMapOvr>
    <a:masterClrMapping/>
  </p:clrMapOvr>
</p:sld>
</file>

<file path=ppt/theme/theme1.xml><?xml version="1.0" encoding="utf-8"?>
<a:theme xmlns:a="http://schemas.openxmlformats.org/drawingml/2006/main" name="Campus Agent">
  <a:themeElements>
    <a:clrScheme name="Campus Agent">
      <a:dk1>
        <a:srgbClr val="222222"/>
      </a:dk1>
      <a:lt1>
        <a:srgbClr val="FFFFFF"/>
      </a:lt1>
      <a:dk2>
        <a:srgbClr val="3C3489"/>
      </a:dk2>
      <a:lt2>
        <a:srgbClr val="F1EFE8"/>
      </a:lt2>
      <a:accent1>
        <a:srgbClr val="534AB7"/>
      </a:accent1>
      <a:accent2>
        <a:srgbClr val="0F6E56"/>
      </a:accent2>
      <a:accent3>
        <a:srgbClr val="5F5E5A"/>
      </a:accent3>
      <a:accent4>
        <a:srgbClr val="E1F5EE"/>
      </a:accent4>
      <a:accent5>
        <a:srgbClr val="EEEDFE"/>
      </a:accent5>
      <a:accent6>
        <a:srgbClr val="F1EFE8"/>
      </a:accent6>
      <a:hlink>
        <a:srgbClr val="185FA5"/>
      </a:hlink>
      <a:folHlink>
        <a:srgbClr val="534AB7"/>
      </a:folHlink>
    </a:clrScheme>
    <a:fontScheme name="Campus Age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172</Words>
  <Application>Microsoft Office PowerPoint</Application>
  <PresentationFormat>On-screen Show (16:9)</PresentationFormat>
  <Paragraphs>19</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Campus Agent</vt:lpstr>
      <vt:lpstr>Agent workflow</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Sameer Patel</cp:lastModifiedBy>
  <cp:revision>2</cp:revision>
  <dcterms:created xsi:type="dcterms:W3CDTF">2026-10-08T20:59:44Z</dcterms:created>
  <dcterms:modified xsi:type="dcterms:W3CDTF">2026-10-08T21:14:16Z</dcterms:modified>
</cp:coreProperties>
</file>